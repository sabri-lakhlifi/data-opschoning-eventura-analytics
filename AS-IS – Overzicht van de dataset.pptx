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ijl, gemiddeld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 b="1"/>
              <a:t>Percentage ontbrekende waarden per kolom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ontbrekende data in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Blad1!$A$2:$A$7</c:f>
              <c:strCache>
                <c:ptCount val="6"/>
                <c:pt idx="0">
                  <c:v>q</c:v>
                </c:pt>
                <c:pt idx="1">
                  <c:v>datum_ID</c:v>
                </c:pt>
                <c:pt idx="2">
                  <c:v>cnt_vis</c:v>
                </c:pt>
                <c:pt idx="3">
                  <c:v>n_vis</c:v>
                </c:pt>
                <c:pt idx="4">
                  <c:v>temp</c:v>
                </c:pt>
                <c:pt idx="5">
                  <c:v>Tc</c:v>
                </c:pt>
              </c:strCache>
            </c:strRef>
          </c:cat>
          <c:val>
            <c:numRef>
              <c:f>Blad1!$B$2:$B$7</c:f>
              <c:numCache>
                <c:formatCode>0.00%</c:formatCode>
                <c:ptCount val="6"/>
                <c:pt idx="0" formatCode="0%">
                  <c:v>0.09</c:v>
                </c:pt>
                <c:pt idx="1">
                  <c:v>4.99E-2</c:v>
                </c:pt>
                <c:pt idx="2">
                  <c:v>5.2600000000000001E-2</c:v>
                </c:pt>
                <c:pt idx="3">
                  <c:v>5.1900000000000002E-2</c:v>
                </c:pt>
                <c:pt idx="4">
                  <c:v>5.4100000000000002E-2</c:v>
                </c:pt>
                <c:pt idx="5">
                  <c:v>5.4100000000000002E-2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38-403D-BB7E-F558A77B08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785106047"/>
        <c:axId val="785106527"/>
      </c:barChart>
      <c:catAx>
        <c:axId val="7851060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785106527"/>
        <c:crosses val="autoZero"/>
        <c:auto val="1"/>
        <c:lblAlgn val="ctr"/>
        <c:lblOffset val="100"/>
        <c:noMultiLvlLbl val="0"/>
      </c:catAx>
      <c:valAx>
        <c:axId val="785106527"/>
        <c:scaling>
          <c:orientation val="minMax"/>
          <c:max val="0.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cross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7851060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>
        <c:manualLayout>
          <c:layoutTarget val="inner"/>
          <c:xMode val="edge"/>
          <c:yMode val="edge"/>
          <c:x val="3.2382169267381133E-2"/>
          <c:y val="0.12852230739142764"/>
          <c:w val="0.93293545890535579"/>
          <c:h val="0.704919268510053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scores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Blad1!$A$2:$A$4</c:f>
              <c:strCache>
                <c:ptCount val="3"/>
                <c:pt idx="0">
                  <c:v>beschrikbaarheid</c:v>
                </c:pt>
                <c:pt idx="1">
                  <c:v>Integriteit </c:v>
                </c:pt>
                <c:pt idx="2">
                  <c:v>Vertrouwelijkheid</c:v>
                </c:pt>
              </c:strCache>
            </c:strRef>
          </c:cat>
          <c:val>
            <c:numRef>
              <c:f>Blad1!$B$2:$B$4</c:f>
              <c:numCache>
                <c:formatCode>General</c:formatCode>
                <c:ptCount val="3"/>
                <c:pt idx="0">
                  <c:v>7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FB-4226-B564-329964F371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5091647"/>
        <c:axId val="785092127"/>
      </c:barChart>
      <c:catAx>
        <c:axId val="785091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785092127"/>
        <c:crosses val="autoZero"/>
        <c:auto val="1"/>
        <c:lblAlgn val="ctr"/>
        <c:lblOffset val="100"/>
        <c:noMultiLvlLbl val="0"/>
      </c:catAx>
      <c:valAx>
        <c:axId val="785092127"/>
        <c:scaling>
          <c:orientation val="minMax"/>
          <c:max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785091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86F832-9E4C-8A47-8963-402383A19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F1F0EBC-9BA0-ABA9-4217-A2414F7A4E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65D3F2-F9FE-72C7-2040-B1F941A2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5ECD-904C-44EA-9A73-1D77FDBDF99B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BF268C7-1695-F4EC-0B81-A0C4FC47A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B57960B-7521-23C2-AD21-FE8AAFFA3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CAB75-905C-43B5-8575-E790B6FFD2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33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1DC98-EEB6-2FBA-FB48-C77070EF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8DAC08-3115-DD0C-387E-F669A2E35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3E8F04-8898-F82F-8DFF-456EA3DF0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5ECD-904C-44EA-9A73-1D77FDBDF99B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B8F4C6B-B1E8-D52D-8AE4-3AD16A2B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BFB9BD-A2D5-39CC-D457-7B38C9D1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CAB75-905C-43B5-8575-E790B6FFD2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4988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E6A506-FF32-5651-3E27-6EF6F4A9B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DEFB51-C037-AF44-CEA7-FA0412E8C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D68F6CB-D194-CBC9-E0AD-516F1940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5ECD-904C-44EA-9A73-1D77FDBDF99B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BB34BFA-E17D-2620-2527-8659C7ED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EFD11E6-5FED-8BE3-881F-781B8B93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CAB75-905C-43B5-8575-E790B6FFD2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30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1F8505-C6E7-E2DE-A6DC-FDE61DEF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B56CDE6-91A7-F979-D7E4-8533F9825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06AD39A-E3B9-B16E-0089-0DD6C97BB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4D08964-8921-9047-821B-6F014F1A6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5ECD-904C-44EA-9A73-1D77FDBDF99B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A8D035B-D5F5-941D-4124-358B6121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530FFC6-5832-5609-3112-F3F1D394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CAB75-905C-43B5-8575-E790B6FFD2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8444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0DC0F7-2AA7-2751-CE5C-1E43B7C72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03F6A9E-FB64-0C04-37A2-A40E1FC86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D01DF5E-E9CD-9BD8-681C-42A50C6F4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6E756D1-FBE8-E9DF-72D0-92BCC5733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2E61369-D27C-CD25-1494-B314078CE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117447B-6168-EEB3-6438-A4BF7A94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5ECD-904C-44EA-9A73-1D77FDBDF99B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43C5C9D-DB38-3483-0289-A41786B5B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14605E-8A32-6A26-22A0-6623EEBA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CAB75-905C-43B5-8575-E790B6FFD2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53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084D7F-9EFA-83B7-5D55-460F1795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AF5B12F-2BB4-1E1C-8850-0BBDFE59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5ECD-904C-44EA-9A73-1D77FDBDF99B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363B20A-7496-EBCC-859A-CA39E93A9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50EB2A1-758E-5E93-D965-953C035CF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CAB75-905C-43B5-8575-E790B6FFD2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19770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4C60CD6-8C5F-AC19-67E7-D4B112D7F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5ECD-904C-44EA-9A73-1D77FDBDF99B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82A8F45-2BB3-BBEC-4904-60D95E7CD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1134B62-9161-E938-2D1D-358FF5CC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CAB75-905C-43B5-8575-E790B6FFD2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3740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FCD63E-9BBB-97E9-246F-243D77F14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C483FB-6251-65E3-0D43-CA07BD005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B17537B-6C06-83D0-FA13-08D21F07B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FE8EF40-F940-972F-4037-91BC53F73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5ECD-904C-44EA-9A73-1D77FDBDF99B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75C8527-BBDE-2083-74CE-9F038D9E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C606A0-629B-96ED-429D-41F4A02B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CAB75-905C-43B5-8575-E790B6FFD2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8417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8D3C7D-1672-5B68-9962-7DBEC27D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0E07024-46A4-87DF-B192-8C2FC35A9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9B6EAF7-3605-BC0D-3FA6-32C058E60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9B94E89-99AB-ECB7-9628-34A25AA77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5ECD-904C-44EA-9A73-1D77FDBDF99B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C6ECB8C-E2B2-CFB7-CE50-12C26B471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1EB13EE-359F-338A-060C-93DB257E0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CAB75-905C-43B5-8575-E790B6FFD2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1379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F64892-1E85-D965-F19E-D097F46CB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27C9FCC-C20C-A616-F405-536B7C293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F0AC1A-3C80-46D4-E08C-64747F38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5ECD-904C-44EA-9A73-1D77FDBDF99B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FCF5A3-EED7-E693-4EDF-A1FC3DBA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37F5DAD-F5F8-B3A9-3D38-89F05EA6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CAB75-905C-43B5-8575-E790B6FFD2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3154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49B4893-43C7-0FFD-6EDF-2C1FEB85B1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CE4E4AF-9F5B-D796-AB86-FA99DA92E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0DEB205-F3E9-6780-3805-FC79B84AD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75ECD-904C-44EA-9A73-1D77FDBDF99B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E1602F7-EE82-2A8F-07DE-3735EA04C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C06DCD-A973-0319-8520-0CD556C8A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CAB75-905C-43B5-8575-E790B6FFD2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361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39DBAAE-9BC0-7FED-C649-7D6F3493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47DE2C8-CFC9-E3CD-CBE1-D74A12550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E93A59D-CA76-C21D-8A5F-90983C44B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75ECD-904C-44EA-9A73-1D77FDBDF99B}" type="datetimeFigureOut">
              <a:rPr lang="nl-NL" smtClean="0"/>
              <a:t>16-1-2026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7CAC7B8-823C-82C5-E225-5C2D900F1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6E74EE-0A00-DF7E-CA5C-EE75C6BFD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CAB75-905C-43B5-8575-E790B6FFD2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078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407C5F-6395-5410-EB74-3483BCDCF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381" y="2442486"/>
            <a:ext cx="3571810" cy="1184130"/>
          </a:xfrm>
        </p:spPr>
        <p:txBody>
          <a:bodyPr>
            <a:noAutofit/>
          </a:bodyPr>
          <a:lstStyle/>
          <a:p>
            <a:pPr algn="l"/>
            <a:r>
              <a:rPr lang="nl-NL" sz="3600" dirty="0"/>
              <a:t>AS-IS – Overzicht van de dataset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177A949-4D7C-A90C-7E51-759CDC6DB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2" y="4631161"/>
            <a:ext cx="6750964" cy="1462475"/>
          </a:xfrm>
        </p:spPr>
        <p:txBody>
          <a:bodyPr>
            <a:noAutofit/>
          </a:bodyPr>
          <a:lstStyle/>
          <a:p>
            <a:pPr algn="l"/>
            <a:r>
              <a:rPr lang="nl-NL" sz="1800" dirty="0"/>
              <a:t>De dataset bevat informatie over evenementen die zijn georganiseerd door </a:t>
            </a:r>
            <a:r>
              <a:rPr lang="nl-NL" sz="1800" dirty="0" err="1"/>
              <a:t>Eventura</a:t>
            </a:r>
            <a:r>
              <a:rPr lang="nl-NL" sz="1800" dirty="0"/>
              <a:t> Analytics, aangevuld met weersinformatie van verschillende bronnen. De data is samengesteld uit meerdere operationele systemen en is nog niet opgeschoond of geharmoniseerd. In deze AS-IS analyse wordt de huidige staat van de datakwaliteit beoordeeld om inzicht te krijgen in de betrouwbaarheid en bruikbaarheid van de dataset.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4EFEFA77-E367-9541-3AFD-F22B808B5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286031"/>
              </p:ext>
            </p:extLst>
          </p:nvPr>
        </p:nvGraphicFramePr>
        <p:xfrm>
          <a:off x="4361421" y="1213954"/>
          <a:ext cx="7650348" cy="2857808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5180846">
                  <a:extLst>
                    <a:ext uri="{9D8B030D-6E8A-4147-A177-3AD203B41FA5}">
                      <a16:colId xmlns:a16="http://schemas.microsoft.com/office/drawing/2014/main" val="256865095"/>
                    </a:ext>
                  </a:extLst>
                </a:gridCol>
                <a:gridCol w="2469502">
                  <a:extLst>
                    <a:ext uri="{9D8B030D-6E8A-4147-A177-3AD203B41FA5}">
                      <a16:colId xmlns:a16="http://schemas.microsoft.com/office/drawing/2014/main" val="2813469201"/>
                    </a:ext>
                  </a:extLst>
                </a:gridCol>
              </a:tblGrid>
              <a:tr h="498667">
                <a:tc>
                  <a:txBody>
                    <a:bodyPr/>
                    <a:lstStyle/>
                    <a:p>
                      <a:r>
                        <a:rPr lang="nl-NL" sz="3300" dirty="0"/>
                        <a:t>Aantal rijen</a:t>
                      </a:r>
                    </a:p>
                  </a:txBody>
                  <a:tcPr marL="166288" marR="166288" marT="83145" marB="83145"/>
                </a:tc>
                <a:tc>
                  <a:txBody>
                    <a:bodyPr/>
                    <a:lstStyle/>
                    <a:p>
                      <a:r>
                        <a:rPr lang="nl-NL" sz="3300"/>
                        <a:t>8979</a:t>
                      </a:r>
                    </a:p>
                  </a:txBody>
                  <a:tcPr marL="166288" marR="166288" marT="83145" marB="83145"/>
                </a:tc>
                <a:extLst>
                  <a:ext uri="{0D108BD9-81ED-4DB2-BD59-A6C34878D82A}">
                    <a16:rowId xmlns:a16="http://schemas.microsoft.com/office/drawing/2014/main" val="2103925288"/>
                  </a:ext>
                </a:extLst>
              </a:tr>
              <a:tr h="601324">
                <a:tc>
                  <a:txBody>
                    <a:bodyPr/>
                    <a:lstStyle/>
                    <a:p>
                      <a:r>
                        <a:rPr lang="nl-NL" sz="3300"/>
                        <a:t>Aantal kolommen</a:t>
                      </a:r>
                    </a:p>
                  </a:txBody>
                  <a:tcPr marL="166288" marR="166288" marT="83145" marB="83145"/>
                </a:tc>
                <a:tc>
                  <a:txBody>
                    <a:bodyPr/>
                    <a:lstStyle/>
                    <a:p>
                      <a:r>
                        <a:rPr lang="nl-NL" sz="3300"/>
                        <a:t>17</a:t>
                      </a:r>
                    </a:p>
                  </a:txBody>
                  <a:tcPr marL="166288" marR="166288" marT="83145" marB="83145"/>
                </a:tc>
                <a:extLst>
                  <a:ext uri="{0D108BD9-81ED-4DB2-BD59-A6C34878D82A}">
                    <a16:rowId xmlns:a16="http://schemas.microsoft.com/office/drawing/2014/main" val="2265269440"/>
                  </a:ext>
                </a:extLst>
              </a:tr>
              <a:tr h="850178">
                <a:tc>
                  <a:txBody>
                    <a:bodyPr/>
                    <a:lstStyle/>
                    <a:p>
                      <a:r>
                        <a:rPr lang="nl-NL" sz="3300" dirty="0"/>
                        <a:t>Aantal dubbele kolommen</a:t>
                      </a:r>
                    </a:p>
                  </a:txBody>
                  <a:tcPr marL="166288" marR="166288" marT="83145" marB="83145"/>
                </a:tc>
                <a:tc>
                  <a:txBody>
                    <a:bodyPr/>
                    <a:lstStyle/>
                    <a:p>
                      <a:r>
                        <a:rPr lang="nl-NL" sz="3300" dirty="0"/>
                        <a:t>785</a:t>
                      </a:r>
                    </a:p>
                  </a:txBody>
                  <a:tcPr marL="166288" marR="166288" marT="83145" marB="83145"/>
                </a:tc>
                <a:extLst>
                  <a:ext uri="{0D108BD9-81ED-4DB2-BD59-A6C34878D82A}">
                    <a16:rowId xmlns:a16="http://schemas.microsoft.com/office/drawing/2014/main" val="232520267"/>
                  </a:ext>
                </a:extLst>
              </a:tr>
              <a:tr h="601324">
                <a:tc>
                  <a:txBody>
                    <a:bodyPr/>
                    <a:lstStyle/>
                    <a:p>
                      <a:r>
                        <a:rPr lang="nl-NL" sz="3300" dirty="0"/>
                        <a:t>Volledige lege rijen </a:t>
                      </a:r>
                    </a:p>
                  </a:txBody>
                  <a:tcPr marL="166288" marR="166288" marT="83145" marB="83145"/>
                </a:tc>
                <a:tc>
                  <a:txBody>
                    <a:bodyPr/>
                    <a:lstStyle/>
                    <a:p>
                      <a:r>
                        <a:rPr lang="nl-NL" sz="3300" dirty="0"/>
                        <a:t>0</a:t>
                      </a:r>
                    </a:p>
                  </a:txBody>
                  <a:tcPr marL="166288" marR="166288" marT="83145" marB="83145"/>
                </a:tc>
                <a:extLst>
                  <a:ext uri="{0D108BD9-81ED-4DB2-BD59-A6C34878D82A}">
                    <a16:rowId xmlns:a16="http://schemas.microsoft.com/office/drawing/2014/main" val="1701394055"/>
                  </a:ext>
                </a:extLst>
              </a:tr>
            </a:tbl>
          </a:graphicData>
        </a:graphic>
      </p:graphicFrame>
      <p:sp>
        <p:nvSpPr>
          <p:cNvPr id="6" name="Tekstvak 5">
            <a:extLst>
              <a:ext uri="{FF2B5EF4-FFF2-40B4-BE49-F238E27FC236}">
                <a16:creationId xmlns:a16="http://schemas.microsoft.com/office/drawing/2014/main" id="{8322A481-9CF4-BF5C-8585-E04360E3FEF9}"/>
              </a:ext>
            </a:extLst>
          </p:cNvPr>
          <p:cNvSpPr txBox="1"/>
          <p:nvPr/>
        </p:nvSpPr>
        <p:spPr>
          <a:xfrm>
            <a:off x="4361421" y="742819"/>
            <a:ext cx="778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De dataset bevat veel records, maar ook een aanzienlijk aantal dubbele rijen.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05C267A-D90E-2E76-1F23-4ECEE3C6F821}"/>
              </a:ext>
            </a:extLst>
          </p:cNvPr>
          <p:cNvSpPr txBox="1"/>
          <p:nvPr/>
        </p:nvSpPr>
        <p:spPr>
          <a:xfrm>
            <a:off x="638882" y="3626616"/>
            <a:ext cx="27959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Naam: Sabri Lakhlifi</a:t>
            </a:r>
          </a:p>
          <a:p>
            <a:r>
              <a:rPr lang="nl-NL" dirty="0"/>
              <a:t>Studentnummer: 1105140</a:t>
            </a:r>
          </a:p>
        </p:txBody>
      </p:sp>
    </p:spTree>
    <p:extLst>
      <p:ext uri="{BB962C8B-B14F-4D97-AF65-F5344CB8AC3E}">
        <p14:creationId xmlns:p14="http://schemas.microsoft.com/office/powerpoint/2010/main" val="3911200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538403E-BDB5-28B1-7C59-C04E554A9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AS-IS – Datakwaliteitsproblemen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01346DFA-EE87-37E2-5A1C-960257DC2CEC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 err="1"/>
              <a:t>Geconstateerde</a:t>
            </a:r>
            <a:r>
              <a:rPr lang="en-US" sz="1700" b="1" dirty="0"/>
              <a:t> </a:t>
            </a:r>
            <a:r>
              <a:rPr lang="en-US" sz="1700" b="1" dirty="0" err="1"/>
              <a:t>problemen</a:t>
            </a:r>
            <a:r>
              <a:rPr lang="en-US" sz="1700" b="1" dirty="0"/>
              <a:t>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• 785 </a:t>
            </a:r>
            <a:r>
              <a:rPr lang="en-US" sz="1700" dirty="0" err="1"/>
              <a:t>dubbele</a:t>
            </a:r>
            <a:r>
              <a:rPr lang="en-US" sz="1700" dirty="0"/>
              <a:t> records (±9%)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• </a:t>
            </a:r>
            <a:r>
              <a:rPr lang="en-US" sz="1700" dirty="0" err="1"/>
              <a:t>Inconsistente</a:t>
            </a:r>
            <a:r>
              <a:rPr lang="en-US" sz="1700" dirty="0"/>
              <a:t> </a:t>
            </a:r>
            <a:r>
              <a:rPr lang="en-US" sz="1700" dirty="0" err="1"/>
              <a:t>en</a:t>
            </a:r>
            <a:r>
              <a:rPr lang="en-US" sz="1700" dirty="0"/>
              <a:t> </a:t>
            </a:r>
            <a:r>
              <a:rPr lang="en-US" sz="1700" dirty="0" err="1"/>
              <a:t>ongeldige</a:t>
            </a:r>
            <a:r>
              <a:rPr lang="en-US" sz="1700" dirty="0"/>
              <a:t> </a:t>
            </a:r>
            <a:r>
              <a:rPr lang="en-US" sz="1700" dirty="0" err="1"/>
              <a:t>datumwaarden</a:t>
            </a: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• </a:t>
            </a:r>
            <a:r>
              <a:rPr lang="en-US" sz="1700" dirty="0" err="1"/>
              <a:t>Numerieke</a:t>
            </a:r>
            <a:r>
              <a:rPr lang="en-US" sz="1700" dirty="0"/>
              <a:t> </a:t>
            </a:r>
            <a:r>
              <a:rPr lang="en-US" sz="1700" dirty="0" err="1"/>
              <a:t>waarden</a:t>
            </a:r>
            <a:r>
              <a:rPr lang="en-US" sz="1700" dirty="0"/>
              <a:t> </a:t>
            </a:r>
            <a:r>
              <a:rPr lang="en-US" sz="1700" dirty="0" err="1"/>
              <a:t>opgeslagen</a:t>
            </a:r>
            <a:r>
              <a:rPr lang="en-US" sz="1700" dirty="0"/>
              <a:t> </a:t>
            </a:r>
            <a:r>
              <a:rPr lang="en-US" sz="1700" dirty="0" err="1"/>
              <a:t>als</a:t>
            </a:r>
            <a:r>
              <a:rPr lang="en-US" sz="1700" dirty="0"/>
              <a:t> </a:t>
            </a:r>
            <a:r>
              <a:rPr lang="en-US" sz="1700" dirty="0" err="1"/>
              <a:t>tekst</a:t>
            </a: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• </a:t>
            </a:r>
            <a:r>
              <a:rPr lang="en-US" sz="1700" dirty="0" err="1"/>
              <a:t>Overlappende</a:t>
            </a:r>
            <a:r>
              <a:rPr lang="en-US" sz="1700" dirty="0"/>
              <a:t> </a:t>
            </a:r>
            <a:r>
              <a:rPr lang="en-US" sz="1700" dirty="0" err="1"/>
              <a:t>kolommen</a:t>
            </a:r>
            <a:r>
              <a:rPr lang="en-US" sz="1700" dirty="0"/>
              <a:t> </a:t>
            </a:r>
            <a:r>
              <a:rPr lang="en-US" sz="1700" dirty="0" err="1"/>
              <a:t>uit</a:t>
            </a:r>
            <a:r>
              <a:rPr lang="en-US" sz="1700" dirty="0"/>
              <a:t> </a:t>
            </a:r>
            <a:r>
              <a:rPr lang="en-US" sz="1700" dirty="0" err="1"/>
              <a:t>verschillende</a:t>
            </a:r>
            <a:r>
              <a:rPr lang="en-US" sz="1700" dirty="0"/>
              <a:t> </a:t>
            </a:r>
            <a:r>
              <a:rPr lang="en-US" sz="1700" dirty="0" err="1"/>
              <a:t>bronnen</a:t>
            </a:r>
            <a:endParaRPr lang="en-US" sz="1700" dirty="0"/>
          </a:p>
        </p:txBody>
      </p:sp>
      <p:graphicFrame>
        <p:nvGraphicFramePr>
          <p:cNvPr id="14" name="Tijdelijke aanduiding voor inhoud 13">
            <a:extLst>
              <a:ext uri="{FF2B5EF4-FFF2-40B4-BE49-F238E27FC236}">
                <a16:creationId xmlns:a16="http://schemas.microsoft.com/office/drawing/2014/main" id="{75711702-A28B-EC34-9E69-18721B4069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7786956"/>
              </p:ext>
            </p:extLst>
          </p:nvPr>
        </p:nvGraphicFramePr>
        <p:xfrm>
          <a:off x="4654296" y="640080"/>
          <a:ext cx="6903720" cy="5577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4111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8D2188-DBE5-E793-D6CC-45877BDD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AS-IS – Betrouwbaarheid &amp; BIV-score</a:t>
            </a:r>
          </a:p>
        </p:txBody>
      </p:sp>
      <p:graphicFrame>
        <p:nvGraphicFramePr>
          <p:cNvPr id="10" name="Tijdelijke aanduiding voor inhoud 9">
            <a:extLst>
              <a:ext uri="{FF2B5EF4-FFF2-40B4-BE49-F238E27FC236}">
                <a16:creationId xmlns:a16="http://schemas.microsoft.com/office/drawing/2014/main" id="{43F0EF47-97B4-89EA-046F-5C86D1FD56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477446"/>
              </p:ext>
            </p:extLst>
          </p:nvPr>
        </p:nvGraphicFramePr>
        <p:xfrm>
          <a:off x="838200" y="1443822"/>
          <a:ext cx="5289095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kstvak 10">
            <a:extLst>
              <a:ext uri="{FF2B5EF4-FFF2-40B4-BE49-F238E27FC236}">
                <a16:creationId xmlns:a16="http://schemas.microsoft.com/office/drawing/2014/main" id="{777231D3-3BC3-A05C-5A87-D0437A798BA4}"/>
              </a:ext>
            </a:extLst>
          </p:cNvPr>
          <p:cNvSpPr txBox="1"/>
          <p:nvPr/>
        </p:nvSpPr>
        <p:spPr>
          <a:xfrm>
            <a:off x="6734175" y="1443822"/>
            <a:ext cx="46196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Relatief betrouwbaar kolommen:</a:t>
            </a:r>
          </a:p>
          <a:p>
            <a:r>
              <a:rPr lang="nl-NL" sz="2400" dirty="0"/>
              <a:t>• event_id</a:t>
            </a:r>
          </a:p>
          <a:p>
            <a:r>
              <a:rPr lang="nl-NL" sz="2400" dirty="0"/>
              <a:t>• loc</a:t>
            </a:r>
          </a:p>
          <a:p>
            <a:r>
              <a:rPr lang="nl-NL" sz="2400" dirty="0"/>
              <a:t>• </a:t>
            </a:r>
            <a:r>
              <a:rPr lang="nl-NL" sz="2400" dirty="0" err="1"/>
              <a:t>cat</a:t>
            </a:r>
            <a:endParaRPr lang="nl-NL" sz="2400" dirty="0"/>
          </a:p>
          <a:p>
            <a:endParaRPr lang="nl-NL" sz="2400" dirty="0"/>
          </a:p>
          <a:p>
            <a:r>
              <a:rPr lang="nl-NL" sz="2400" dirty="0"/>
              <a:t>Minder betrouwbaar kolommen :</a:t>
            </a:r>
          </a:p>
          <a:p>
            <a:r>
              <a:rPr lang="nl-NL" sz="2400" dirty="0"/>
              <a:t>• </a:t>
            </a:r>
            <a:r>
              <a:rPr lang="nl-NL" sz="2400" dirty="0" err="1"/>
              <a:t>datum_ID</a:t>
            </a:r>
            <a:endParaRPr lang="nl-NL" sz="2400" dirty="0"/>
          </a:p>
          <a:p>
            <a:r>
              <a:rPr lang="nl-NL" sz="2400" dirty="0"/>
              <a:t>• </a:t>
            </a:r>
            <a:r>
              <a:rPr lang="nl-NL" sz="2400" dirty="0" err="1"/>
              <a:t>n_vis</a:t>
            </a:r>
            <a:endParaRPr lang="nl-NL" sz="2400" dirty="0"/>
          </a:p>
          <a:p>
            <a:r>
              <a:rPr lang="nl-NL" sz="2400" dirty="0"/>
              <a:t>• q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2EE8E7DB-C5E6-835E-4E85-33C4C7BA4A34}"/>
              </a:ext>
            </a:extLst>
          </p:cNvPr>
          <p:cNvSpPr txBox="1"/>
          <p:nvPr/>
        </p:nvSpPr>
        <p:spPr>
          <a:xfrm>
            <a:off x="6734175" y="5200175"/>
            <a:ext cx="392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Totale AS-IS datakwaliteitsscore: 6/10</a:t>
            </a:r>
          </a:p>
        </p:txBody>
      </p:sp>
    </p:spTree>
    <p:extLst>
      <p:ext uri="{BB962C8B-B14F-4D97-AF65-F5344CB8AC3E}">
        <p14:creationId xmlns:p14="http://schemas.microsoft.com/office/powerpoint/2010/main" val="211079233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A73766C730E1499570ED6FBE966F3C" ma:contentTypeVersion="10" ma:contentTypeDescription="Create a new document." ma:contentTypeScope="" ma:versionID="5010a5887c0f6918c3d4e6ad94cbeaa6">
  <xsd:schema xmlns:xsd="http://www.w3.org/2001/XMLSchema" xmlns:xs="http://www.w3.org/2001/XMLSchema" xmlns:p="http://schemas.microsoft.com/office/2006/metadata/properties" xmlns:ns3="8e26a412-eb24-4fd0-bbc0-2e15db2be7b7" targetNamespace="http://schemas.microsoft.com/office/2006/metadata/properties" ma:root="true" ma:fieldsID="6fccbe0175d278e8ad4818305c5534f8" ns3:_="">
    <xsd:import namespace="8e26a412-eb24-4fd0-bbc0-2e15db2be7b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6a412-eb24-4fd0-bbc0-2e15db2be7b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26a412-eb24-4fd0-bbc0-2e15db2be7b7" xsi:nil="true"/>
  </documentManagement>
</p:properties>
</file>

<file path=customXml/itemProps1.xml><?xml version="1.0" encoding="utf-8"?>
<ds:datastoreItem xmlns:ds="http://schemas.openxmlformats.org/officeDocument/2006/customXml" ds:itemID="{662C4592-4298-4588-8072-2CBE7C7979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26a412-eb24-4fd0-bbc0-2e15db2be7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1157C2-1C54-4C35-83F7-94CF0A600F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FD045D-2042-4226-9EA8-FF37AD088D01}">
  <ds:schemaRefs>
    <ds:schemaRef ds:uri="http://schemas.microsoft.com/office/2006/documentManagement/types"/>
    <ds:schemaRef ds:uri="http://purl.org/dc/terms/"/>
    <ds:schemaRef ds:uri="http://purl.org/dc/dcmitype/"/>
    <ds:schemaRef ds:uri="8e26a412-eb24-4fd0-bbc0-2e15db2be7b7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174</Words>
  <Application>Microsoft Office PowerPoint</Application>
  <PresentationFormat>Breedbeeld</PresentationFormat>
  <Paragraphs>35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Kantoorthema</vt:lpstr>
      <vt:lpstr>AS-IS – Overzicht van de dataset</vt:lpstr>
      <vt:lpstr>AS-IS – Datakwaliteitsproblemen</vt:lpstr>
      <vt:lpstr>AS-IS – Betrouwbaarheid &amp; BIV-score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sabri Lakhlifi (1105140)</dc:creator>
  <cp:lastModifiedBy>sabri Lakhlifi (1105140)</cp:lastModifiedBy>
  <cp:revision>1</cp:revision>
  <dcterms:created xsi:type="dcterms:W3CDTF">2026-01-16T17:14:38Z</dcterms:created>
  <dcterms:modified xsi:type="dcterms:W3CDTF">2026-01-17T14:25:31Z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0x010100BFA73766C730E1499570ED6FBE966F3C</vt:lpwstr>
  </property>
</Properties>
</file>