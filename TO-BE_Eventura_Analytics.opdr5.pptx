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9141714" cy="3490956"/>
            <a:chOff x="651279" y="598259"/>
            <a:chExt cx="10889442" cy="5680742"/>
          </a:xfrm>
        </p:grpSpPr>
        <p:sp>
          <p:nvSpPr>
            <p:cNvPr id="31"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34" name="Group 33">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35" name="Freeform: Shape 34">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6" name="Freeform: Shape 35">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7" name="Freeform: Shape 36">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8" name="Freeform: Shape 37">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9" name="Freeform: Shape 38">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0" name="Freeform: Shape 39">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41" name="Freeform: Shape 40">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9"/>
            <a:ext cx="4269714" cy="2587131"/>
          </a:xfrm>
        </p:spPr>
        <p:txBody>
          <a:bodyPr vert="horz" lIns="91440" tIns="45720" rIns="91440" bIns="45720" rtlCol="0" anchor="b">
            <a:normAutofit/>
          </a:bodyPr>
          <a:lstStyle/>
          <a:p>
            <a:pPr algn="l" defTabSz="914400"/>
            <a:r>
              <a:rPr lang="en-US" sz="4200" kern="1200">
                <a:solidFill>
                  <a:schemeClr val="bg1"/>
                </a:solidFill>
                <a:latin typeface="+mj-lt"/>
                <a:ea typeface="+mj-ea"/>
                <a:cs typeface="+mj-cs"/>
              </a:rPr>
              <a:t>TO-BE Datakwaliteit – Eventura Analytics</a:t>
            </a:r>
          </a:p>
        </p:txBody>
      </p:sp>
      <p:sp>
        <p:nvSpPr>
          <p:cNvPr id="3" name="Content Placeholder 2"/>
          <p:cNvSpPr>
            <a:spLocks noGrp="1"/>
          </p:cNvSpPr>
          <p:nvPr>
            <p:ph idx="1"/>
          </p:nvPr>
        </p:nvSpPr>
        <p:spPr>
          <a:xfrm>
            <a:off x="230452" y="4943274"/>
            <a:ext cx="4269715" cy="963561"/>
          </a:xfrm>
        </p:spPr>
        <p:txBody>
          <a:bodyPr vert="horz" lIns="91440" tIns="45720" rIns="91440" bIns="45720" rtlCol="0" anchor="ctr">
            <a:normAutofit/>
          </a:bodyPr>
          <a:lstStyle/>
          <a:p>
            <a:pPr indent="-228600" defTabSz="914400">
              <a:buFont typeface="Arial" panose="020B0604020202020204" pitchFamily="34" charset="0"/>
              <a:buChar char="•"/>
            </a:pPr>
            <a:endParaRPr lang="en-US" sz="1600" dirty="0">
              <a:solidFill>
                <a:schemeClr val="tx2"/>
              </a:solidFill>
            </a:endParaRPr>
          </a:p>
          <a:p>
            <a:pPr indent="-228600" defTabSz="914400">
              <a:buFont typeface="Arial" panose="020B0604020202020204" pitchFamily="34" charset="0"/>
              <a:buChar char="•"/>
            </a:pPr>
            <a:r>
              <a:rPr lang="en-US" sz="1600" dirty="0"/>
              <a:t>Naam: Sabri Lakhlifi</a:t>
            </a:r>
          </a:p>
          <a:p>
            <a:pPr indent="-228600" defTabSz="914400">
              <a:buFont typeface="Arial" panose="020B0604020202020204" pitchFamily="34" charset="0"/>
              <a:buChar char="•"/>
            </a:pPr>
            <a:r>
              <a:rPr lang="en-US" sz="1600" dirty="0" err="1"/>
              <a:t>Studentnummer</a:t>
            </a:r>
            <a:r>
              <a:rPr lang="en-US" sz="1600" dirty="0"/>
              <a:t>: 1105140</a:t>
            </a:r>
          </a:p>
        </p:txBody>
      </p:sp>
      <p:sp>
        <p:nvSpPr>
          <p:cNvPr id="5" name="Tekstvak 4">
            <a:extLst>
              <a:ext uri="{FF2B5EF4-FFF2-40B4-BE49-F238E27FC236}">
                <a16:creationId xmlns:a16="http://schemas.microsoft.com/office/drawing/2014/main" id="{B490A0CA-081C-C7F8-F392-D86B50255E70}"/>
              </a:ext>
            </a:extLst>
          </p:cNvPr>
          <p:cNvSpPr txBox="1"/>
          <p:nvPr/>
        </p:nvSpPr>
        <p:spPr>
          <a:xfrm>
            <a:off x="6338703" y="1412489"/>
            <a:ext cx="2398275" cy="4363844"/>
          </a:xfrm>
          <a:prstGeom prst="rect">
            <a:avLst/>
          </a:prstGeom>
        </p:spPr>
        <p:txBody>
          <a:bodyPr vert="horz" lIns="91440" tIns="45720" rIns="91440" bIns="45720" rtlCol="0">
            <a:normAutofit/>
          </a:bodyPr>
          <a:lstStyle/>
          <a:p>
            <a:pPr indent="-228600" defTabSz="914400">
              <a:lnSpc>
                <a:spcPct val="90000"/>
              </a:lnSpc>
              <a:spcAft>
                <a:spcPts val="600"/>
              </a:spcAft>
              <a:buFont typeface="Arial" panose="020B0604020202020204" pitchFamily="34" charset="0"/>
              <a:buChar char="•"/>
            </a:pPr>
            <a:endParaRPr lang="en-US" sz="1700" dirty="0"/>
          </a:p>
        </p:txBody>
      </p:sp>
      <p:graphicFrame>
        <p:nvGraphicFramePr>
          <p:cNvPr id="6" name="Tabel 5">
            <a:extLst>
              <a:ext uri="{FF2B5EF4-FFF2-40B4-BE49-F238E27FC236}">
                <a16:creationId xmlns:a16="http://schemas.microsoft.com/office/drawing/2014/main" id="{A67433D6-C4AB-86D4-4F0A-DB763B3BF87E}"/>
              </a:ext>
            </a:extLst>
          </p:cNvPr>
          <p:cNvGraphicFramePr>
            <a:graphicFrameLocks noGrp="1"/>
          </p:cNvGraphicFramePr>
          <p:nvPr>
            <p:extLst>
              <p:ext uri="{D42A27DB-BD31-4B8C-83A1-F6EECF244321}">
                <p14:modId xmlns:p14="http://schemas.microsoft.com/office/powerpoint/2010/main" val="382015044"/>
              </p:ext>
            </p:extLst>
          </p:nvPr>
        </p:nvGraphicFramePr>
        <p:xfrm>
          <a:off x="5102735" y="2439262"/>
          <a:ext cx="3547660" cy="1979477"/>
        </p:xfrm>
        <a:graphic>
          <a:graphicData uri="http://schemas.openxmlformats.org/drawingml/2006/table">
            <a:tbl>
              <a:tblPr firstRow="1" firstCol="1" bandRow="1">
                <a:tableStyleId>{5C22544A-7EE6-4342-B048-85BDC9FD1C3A}</a:tableStyleId>
              </a:tblPr>
              <a:tblGrid>
                <a:gridCol w="1592378">
                  <a:extLst>
                    <a:ext uri="{9D8B030D-6E8A-4147-A177-3AD203B41FA5}">
                      <a16:colId xmlns:a16="http://schemas.microsoft.com/office/drawing/2014/main" val="2441187438"/>
                    </a:ext>
                  </a:extLst>
                </a:gridCol>
                <a:gridCol w="1955282">
                  <a:extLst>
                    <a:ext uri="{9D8B030D-6E8A-4147-A177-3AD203B41FA5}">
                      <a16:colId xmlns:a16="http://schemas.microsoft.com/office/drawing/2014/main" val="2594099306"/>
                    </a:ext>
                  </a:extLst>
                </a:gridCol>
              </a:tblGrid>
              <a:tr h="348388">
                <a:tc>
                  <a:txBody>
                    <a:bodyPr/>
                    <a:lstStyle/>
                    <a:p>
                      <a:r>
                        <a:rPr lang="nl-NL" sz="1600"/>
                        <a:t>Aantal rijen</a:t>
                      </a:r>
                    </a:p>
                  </a:txBody>
                  <a:tcPr marL="79179" marR="79179" marT="39590" marB="39590"/>
                </a:tc>
                <a:tc>
                  <a:txBody>
                    <a:bodyPr/>
                    <a:lstStyle/>
                    <a:p>
                      <a:pPr algn="r"/>
                      <a:r>
                        <a:rPr lang="nl-NL" sz="1600"/>
                        <a:t>8194</a:t>
                      </a:r>
                    </a:p>
                  </a:txBody>
                  <a:tcPr marL="79179" marR="79179" marT="39590" marB="39590"/>
                </a:tc>
                <a:extLst>
                  <a:ext uri="{0D108BD9-81ED-4DB2-BD59-A6C34878D82A}">
                    <a16:rowId xmlns:a16="http://schemas.microsoft.com/office/drawing/2014/main" val="1914768942"/>
                  </a:ext>
                </a:extLst>
              </a:tr>
              <a:tr h="585925">
                <a:tc>
                  <a:txBody>
                    <a:bodyPr/>
                    <a:lstStyle/>
                    <a:p>
                      <a:r>
                        <a:rPr lang="nl-NL" sz="1600"/>
                        <a:t>Aantal kolommen</a:t>
                      </a:r>
                    </a:p>
                  </a:txBody>
                  <a:tcPr marL="79179" marR="79179" marT="39590" marB="39590"/>
                </a:tc>
                <a:tc>
                  <a:txBody>
                    <a:bodyPr/>
                    <a:lstStyle/>
                    <a:p>
                      <a:pPr algn="r"/>
                      <a:r>
                        <a:rPr lang="nl-NL" sz="1600"/>
                        <a:t>16</a:t>
                      </a:r>
                    </a:p>
                  </a:txBody>
                  <a:tcPr marL="79179" marR="79179" marT="39590" marB="39590"/>
                </a:tc>
                <a:extLst>
                  <a:ext uri="{0D108BD9-81ED-4DB2-BD59-A6C34878D82A}">
                    <a16:rowId xmlns:a16="http://schemas.microsoft.com/office/drawing/2014/main" val="3363173462"/>
                  </a:ext>
                </a:extLst>
              </a:tr>
              <a:tr h="348388">
                <a:tc>
                  <a:txBody>
                    <a:bodyPr/>
                    <a:lstStyle/>
                    <a:p>
                      <a:r>
                        <a:rPr lang="nl-NL" sz="1600"/>
                        <a:t>Dubbele rijen</a:t>
                      </a:r>
                    </a:p>
                  </a:txBody>
                  <a:tcPr marL="79179" marR="79179" marT="39590" marB="39590"/>
                </a:tc>
                <a:tc>
                  <a:txBody>
                    <a:bodyPr/>
                    <a:lstStyle/>
                    <a:p>
                      <a:pPr algn="r"/>
                      <a:r>
                        <a:rPr lang="nl-NL" sz="1600"/>
                        <a:t>0</a:t>
                      </a:r>
                    </a:p>
                  </a:txBody>
                  <a:tcPr marL="79179" marR="79179" marT="39590" marB="39590"/>
                </a:tc>
                <a:extLst>
                  <a:ext uri="{0D108BD9-81ED-4DB2-BD59-A6C34878D82A}">
                    <a16:rowId xmlns:a16="http://schemas.microsoft.com/office/drawing/2014/main" val="1043166406"/>
                  </a:ext>
                </a:extLst>
              </a:tr>
              <a:tr h="348388">
                <a:tc>
                  <a:txBody>
                    <a:bodyPr/>
                    <a:lstStyle/>
                    <a:p>
                      <a:r>
                        <a:rPr lang="nl-NL" sz="1600"/>
                        <a:t>Datumformaat</a:t>
                      </a:r>
                    </a:p>
                  </a:txBody>
                  <a:tcPr marL="79179" marR="79179" marT="39590" marB="39590"/>
                </a:tc>
                <a:tc>
                  <a:txBody>
                    <a:bodyPr/>
                    <a:lstStyle/>
                    <a:p>
                      <a:pPr algn="r"/>
                      <a:r>
                        <a:rPr lang="nl-NL" sz="1600"/>
                        <a:t>Gestandaardiseerd</a:t>
                      </a:r>
                    </a:p>
                  </a:txBody>
                  <a:tcPr marL="79179" marR="79179" marT="39590" marB="39590"/>
                </a:tc>
                <a:extLst>
                  <a:ext uri="{0D108BD9-81ED-4DB2-BD59-A6C34878D82A}">
                    <a16:rowId xmlns:a16="http://schemas.microsoft.com/office/drawing/2014/main" val="192585712"/>
                  </a:ext>
                </a:extLst>
              </a:tr>
              <a:tr h="348388">
                <a:tc>
                  <a:txBody>
                    <a:bodyPr/>
                    <a:lstStyle/>
                    <a:p>
                      <a:r>
                        <a:rPr lang="nl-NL" sz="1600"/>
                        <a:t>Bezoekersdata</a:t>
                      </a:r>
                    </a:p>
                  </a:txBody>
                  <a:tcPr marL="79179" marR="79179" marT="39590" marB="39590"/>
                </a:tc>
                <a:tc>
                  <a:txBody>
                    <a:bodyPr/>
                    <a:lstStyle/>
                    <a:p>
                      <a:pPr algn="r"/>
                      <a:r>
                        <a:rPr lang="nl-NL" sz="1600" dirty="0"/>
                        <a:t>Gestandaardiseerd</a:t>
                      </a:r>
                    </a:p>
                  </a:txBody>
                  <a:tcPr marL="79179" marR="79179" marT="39590" marB="39590"/>
                </a:tc>
                <a:extLst>
                  <a:ext uri="{0D108BD9-81ED-4DB2-BD59-A6C34878D82A}">
                    <a16:rowId xmlns:a16="http://schemas.microsoft.com/office/drawing/2014/main" val="974270896"/>
                  </a:ext>
                </a:extLst>
              </a:tr>
            </a:tbl>
          </a:graphicData>
        </a:graphic>
      </p:graphicFrame>
      <p:sp>
        <p:nvSpPr>
          <p:cNvPr id="7" name="Tekstvak 6">
            <a:extLst>
              <a:ext uri="{FF2B5EF4-FFF2-40B4-BE49-F238E27FC236}">
                <a16:creationId xmlns:a16="http://schemas.microsoft.com/office/drawing/2014/main" id="{870E7293-3B22-4547-1101-36B23F05D9F9}"/>
              </a:ext>
            </a:extLst>
          </p:cNvPr>
          <p:cNvSpPr txBox="1"/>
          <p:nvPr/>
        </p:nvSpPr>
        <p:spPr>
          <a:xfrm>
            <a:off x="180085" y="3802378"/>
            <a:ext cx="4836067" cy="1200329"/>
          </a:xfrm>
          <a:prstGeom prst="rect">
            <a:avLst/>
          </a:prstGeom>
          <a:noFill/>
        </p:spPr>
        <p:txBody>
          <a:bodyPr wrap="square" rtlCol="0">
            <a:spAutoFit/>
          </a:bodyPr>
          <a:lstStyle/>
          <a:p>
            <a:r>
              <a:rPr lang="nl-NL" dirty="0"/>
              <a:t>De dataset is opgeschoond op basis van de bevindingen uit de AS-IS analyse. De focus lag op het verbeteren van de datakwaliteit zonder onnodig datavolume te verliezen.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 name="Group 13">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9141714" cy="3490956"/>
            <a:chOff x="651279" y="598259"/>
            <a:chExt cx="10889442" cy="5680742"/>
          </a:xfrm>
        </p:grpSpPr>
        <p:sp>
          <p:nvSpPr>
            <p:cNvPr id="15"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Gum">
            <a:extLst>
              <a:ext uri="{FF2B5EF4-FFF2-40B4-BE49-F238E27FC236}">
                <a16:creationId xmlns:a16="http://schemas.microsoft.com/office/drawing/2014/main" id="{0F228CF2-8126-8806-B001-BFDC64EC35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02735" y="1655170"/>
            <a:ext cx="3547660" cy="3547660"/>
          </a:xfrm>
          <a:prstGeom prst="rect">
            <a:avLst/>
          </a:prstGeom>
        </p:spPr>
      </p:pic>
      <p:grpSp>
        <p:nvGrpSpPr>
          <p:cNvPr id="18" name="Group 17">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19" name="Freeform: Shape 18">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9"/>
            <a:ext cx="4269714" cy="2587131"/>
          </a:xfrm>
        </p:spPr>
        <p:txBody>
          <a:bodyPr anchor="b">
            <a:normAutofit/>
          </a:bodyPr>
          <a:lstStyle/>
          <a:p>
            <a:pPr algn="l"/>
            <a:r>
              <a:rPr lang="nl-NL" sz="4200">
                <a:solidFill>
                  <a:schemeClr val="bg1"/>
                </a:solidFill>
              </a:rPr>
              <a:t>Uitgevoerde Data Opschoning</a:t>
            </a:r>
          </a:p>
        </p:txBody>
      </p:sp>
      <p:sp>
        <p:nvSpPr>
          <p:cNvPr id="5" name="Rectangle 2">
            <a:extLst>
              <a:ext uri="{FF2B5EF4-FFF2-40B4-BE49-F238E27FC236}">
                <a16:creationId xmlns:a16="http://schemas.microsoft.com/office/drawing/2014/main" id="{C0BF7249-5778-7ACB-127A-913CD1CBBECE}"/>
              </a:ext>
            </a:extLst>
          </p:cNvPr>
          <p:cNvSpPr>
            <a:spLocks noGrp="1" noChangeArrowheads="1"/>
          </p:cNvSpPr>
          <p:nvPr>
            <p:ph idx="1"/>
          </p:nvPr>
        </p:nvSpPr>
        <p:spPr bwMode="auto">
          <a:xfrm>
            <a:off x="226405" y="4814997"/>
            <a:ext cx="7984878"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800" b="0" i="0" u="none" strike="noStrike" cap="none" normalizeH="0" baseline="0" dirty="0">
                <a:ln>
                  <a:noFill/>
                </a:ln>
                <a:solidFill>
                  <a:schemeClr val="tx1"/>
                </a:solidFill>
                <a:effectLst/>
                <a:latin typeface="Arial" panose="020B0604020202020204" pitchFamily="34" charset="0"/>
              </a:rPr>
              <a:t>Dubbele records verwijderd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800" b="0" i="0" u="none" strike="noStrike" cap="none" normalizeH="0" baseline="0" dirty="0">
                <a:ln>
                  <a:noFill/>
                </a:ln>
                <a:solidFill>
                  <a:schemeClr val="tx1"/>
                </a:solidFill>
                <a:effectLst/>
                <a:latin typeface="Arial" panose="020B0604020202020204" pitchFamily="34" charset="0"/>
              </a:rPr>
              <a:t>Bezoekersaantallen opgeschoond en geconverteerd naar numeriek formaat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800" b="0" i="0" u="none" strike="noStrike" cap="none" normalizeH="0" baseline="0" dirty="0">
                <a:ln>
                  <a:noFill/>
                </a:ln>
                <a:solidFill>
                  <a:schemeClr val="tx1"/>
                </a:solidFill>
                <a:effectLst/>
                <a:latin typeface="Arial" panose="020B0604020202020204" pitchFamily="34" charset="0"/>
              </a:rPr>
              <a:t>Overlappende kolom (</a:t>
            </a:r>
            <a:r>
              <a:rPr kumimoji="0" lang="nl-NL" altLang="nl-NL" sz="1800" b="0" i="0" u="none" strike="noStrike" cap="none" normalizeH="0" baseline="0" dirty="0" err="1">
                <a:ln>
                  <a:noFill/>
                </a:ln>
                <a:solidFill>
                  <a:schemeClr val="tx1"/>
                </a:solidFill>
                <a:effectLst/>
                <a:latin typeface="Arial Unicode MS"/>
              </a:rPr>
              <a:t>cnt_vis</a:t>
            </a:r>
            <a:r>
              <a:rPr kumimoji="0" lang="nl-NL" altLang="nl-NL" sz="1800" b="0" i="0" u="none" strike="noStrike" cap="none" normalizeH="0" baseline="0" dirty="0">
                <a:ln>
                  <a:noFill/>
                </a:ln>
                <a:solidFill>
                  <a:schemeClr val="tx1"/>
                </a:solidFill>
                <a:effectLst/>
                <a:latin typeface="Arial Unicode MS"/>
              </a:rPr>
              <a:t>) verwijderd</a:t>
            </a:r>
            <a:endParaRPr kumimoji="0" lang="nl-NL" altLang="nl-N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800" b="0" i="0" u="none" strike="noStrike" cap="none" normalizeH="0" baseline="0" dirty="0">
                <a:ln>
                  <a:noFill/>
                </a:ln>
                <a:solidFill>
                  <a:schemeClr val="tx1"/>
                </a:solidFill>
                <a:effectLst/>
                <a:latin typeface="Arial" panose="020B0604020202020204" pitchFamily="34" charset="0"/>
              </a:rPr>
              <a:t>Datumkolom geconverteerd naar een uniform datumformaat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800" b="0" i="0" u="none" strike="noStrike" cap="none" normalizeH="0" baseline="0" dirty="0">
                <a:ln>
                  <a:noFill/>
                </a:ln>
                <a:solidFill>
                  <a:schemeClr val="tx1"/>
                </a:solidFill>
                <a:effectLst/>
                <a:latin typeface="Arial" panose="020B0604020202020204" pitchFamily="34" charset="0"/>
              </a:rPr>
              <a:t>Weerdata geconverteerd naar numerieke waarden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nl-NL" altLang="nl-NL" sz="1800" b="0" i="0" u="none" strike="noStrike" cap="none" normalizeH="0" baseline="0" dirty="0">
                <a:ln>
                  <a:noFill/>
                </a:ln>
                <a:solidFill>
                  <a:schemeClr val="tx1"/>
                </a:solidFill>
                <a:effectLst/>
                <a:latin typeface="Arial" panose="020B0604020202020204" pitchFamily="34" charset="0"/>
              </a:rPr>
              <a:t>Rijen met ontbrekende kernwaarden behouden voor latere filtering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1"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548176"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3" y="0"/>
            <a:ext cx="9141717"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a:off x="589788" y="841249"/>
            <a:ext cx="3847200" cy="1778750"/>
          </a:xfrm>
        </p:spPr>
        <p:txBody>
          <a:bodyPr anchor="ctr">
            <a:normAutofit/>
          </a:bodyPr>
          <a:lstStyle/>
          <a:p>
            <a:pPr algn="l"/>
            <a:r>
              <a:rPr lang="nl-NL" sz="4200" dirty="0">
                <a:solidFill>
                  <a:schemeClr val="bg1"/>
                </a:solidFill>
              </a:rPr>
              <a:t>TO-BE BIV-score</a:t>
            </a:r>
          </a:p>
        </p:txBody>
      </p:sp>
      <p:sp>
        <p:nvSpPr>
          <p:cNvPr id="3" name="Content Placeholder 2"/>
          <p:cNvSpPr>
            <a:spLocks noGrp="1"/>
          </p:cNvSpPr>
          <p:nvPr>
            <p:ph idx="1"/>
          </p:nvPr>
        </p:nvSpPr>
        <p:spPr>
          <a:xfrm>
            <a:off x="805043" y="1996418"/>
            <a:ext cx="3363402" cy="4600192"/>
          </a:xfrm>
        </p:spPr>
        <p:txBody>
          <a:bodyPr anchor="ctr">
            <a:normAutofit/>
          </a:bodyPr>
          <a:lstStyle/>
          <a:p>
            <a:r>
              <a:rPr lang="nl-NL" sz="1600" b="1" dirty="0">
                <a:solidFill>
                  <a:schemeClr val="tx2"/>
                </a:solidFill>
              </a:rPr>
              <a:t>BIV-score TO-BE</a:t>
            </a:r>
          </a:p>
          <a:p>
            <a:r>
              <a:rPr lang="nl-NL" sz="1600" dirty="0">
                <a:solidFill>
                  <a:schemeClr val="tx2"/>
                </a:solidFill>
              </a:rPr>
              <a:t>Gebruik dit (mag letterlijk):</a:t>
            </a:r>
          </a:p>
          <a:p>
            <a:r>
              <a:rPr lang="nl-NL" sz="1600" b="1" dirty="0">
                <a:solidFill>
                  <a:schemeClr val="tx2"/>
                </a:solidFill>
              </a:rPr>
              <a:t>Beschikbaarheid – 8/10</a:t>
            </a:r>
            <a:endParaRPr lang="nl-NL" sz="1600" dirty="0">
              <a:solidFill>
                <a:schemeClr val="tx2"/>
              </a:solidFill>
            </a:endParaRPr>
          </a:p>
          <a:p>
            <a:r>
              <a:rPr lang="nl-NL" sz="1600" dirty="0">
                <a:solidFill>
                  <a:schemeClr val="tx2"/>
                </a:solidFill>
              </a:rPr>
              <a:t>Data grotendeels behouden</a:t>
            </a:r>
          </a:p>
          <a:p>
            <a:r>
              <a:rPr lang="nl-NL" sz="1600" dirty="0">
                <a:solidFill>
                  <a:schemeClr val="tx2"/>
                </a:solidFill>
              </a:rPr>
              <a:t>Geen volledig lege rijen</a:t>
            </a:r>
          </a:p>
          <a:p>
            <a:r>
              <a:rPr lang="nl-NL" sz="1600" b="1" dirty="0">
                <a:solidFill>
                  <a:schemeClr val="tx2"/>
                </a:solidFill>
              </a:rPr>
              <a:t>Integriteit – 8/10</a:t>
            </a:r>
            <a:endParaRPr lang="nl-NL" sz="1600" dirty="0">
              <a:solidFill>
                <a:schemeClr val="tx2"/>
              </a:solidFill>
            </a:endParaRPr>
          </a:p>
          <a:p>
            <a:r>
              <a:rPr lang="nl-NL" sz="1600" dirty="0">
                <a:solidFill>
                  <a:schemeClr val="tx2"/>
                </a:solidFill>
              </a:rPr>
              <a:t>Geen dubbele records</a:t>
            </a:r>
          </a:p>
          <a:p>
            <a:r>
              <a:rPr lang="nl-NL" sz="1600" dirty="0">
                <a:solidFill>
                  <a:schemeClr val="tx2"/>
                </a:solidFill>
              </a:rPr>
              <a:t>Consistente datatypes</a:t>
            </a:r>
          </a:p>
          <a:p>
            <a:r>
              <a:rPr lang="nl-NL" sz="1600" dirty="0">
                <a:solidFill>
                  <a:schemeClr val="tx2"/>
                </a:solidFill>
              </a:rPr>
              <a:t>Betere definities per kolom</a:t>
            </a:r>
          </a:p>
          <a:p>
            <a:r>
              <a:rPr lang="nl-NL" sz="1600" b="1" dirty="0">
                <a:solidFill>
                  <a:schemeClr val="tx2"/>
                </a:solidFill>
              </a:rPr>
              <a:t>Vertrouwelijkheid – 8/10</a:t>
            </a:r>
            <a:endParaRPr lang="nl-NL" sz="1600" dirty="0">
              <a:solidFill>
                <a:schemeClr val="tx2"/>
              </a:solidFill>
            </a:endParaRPr>
          </a:p>
          <a:p>
            <a:r>
              <a:rPr lang="nl-NL" sz="1600" dirty="0">
                <a:solidFill>
                  <a:schemeClr val="tx2"/>
                </a:solidFill>
              </a:rPr>
              <a:t>Geen gevoelige persoonsgegevens</a:t>
            </a:r>
          </a:p>
          <a:p>
            <a:r>
              <a:rPr lang="nl-NL" sz="1600" b="1" dirty="0">
                <a:solidFill>
                  <a:schemeClr val="tx2"/>
                </a:solidFill>
              </a:rPr>
              <a:t>TO-BE eindscore: 8/10</a:t>
            </a:r>
            <a:endParaRPr lang="nl-NL" sz="1600" dirty="0">
              <a:solidFill>
                <a:schemeClr val="tx2"/>
              </a:solidFill>
            </a:endParaRPr>
          </a:p>
        </p:txBody>
      </p:sp>
      <p:sp>
        <p:nvSpPr>
          <p:cNvPr id="5" name="Tekstvak 4">
            <a:extLst>
              <a:ext uri="{FF2B5EF4-FFF2-40B4-BE49-F238E27FC236}">
                <a16:creationId xmlns:a16="http://schemas.microsoft.com/office/drawing/2014/main" id="{0B5ED2D7-91AC-211A-C743-8AC1503A504B}"/>
              </a:ext>
            </a:extLst>
          </p:cNvPr>
          <p:cNvSpPr txBox="1"/>
          <p:nvPr/>
        </p:nvSpPr>
        <p:spPr>
          <a:xfrm>
            <a:off x="5535345" y="1229729"/>
            <a:ext cx="2530821" cy="769441"/>
          </a:xfrm>
          <a:prstGeom prst="rect">
            <a:avLst/>
          </a:prstGeom>
          <a:noFill/>
        </p:spPr>
        <p:txBody>
          <a:bodyPr wrap="none" rtlCol="0">
            <a:spAutoFit/>
          </a:bodyPr>
          <a:lstStyle/>
          <a:p>
            <a:r>
              <a:rPr lang="nl-NL" sz="4400" dirty="0"/>
              <a:t>REFLECTIE</a:t>
            </a:r>
          </a:p>
        </p:txBody>
      </p:sp>
      <p:sp>
        <p:nvSpPr>
          <p:cNvPr id="6" name="Tekstvak 5">
            <a:extLst>
              <a:ext uri="{FF2B5EF4-FFF2-40B4-BE49-F238E27FC236}">
                <a16:creationId xmlns:a16="http://schemas.microsoft.com/office/drawing/2014/main" id="{9A4044F1-7CE8-F8B9-B0C2-9805BC5E49A2}"/>
              </a:ext>
            </a:extLst>
          </p:cNvPr>
          <p:cNvSpPr txBox="1"/>
          <p:nvPr/>
        </p:nvSpPr>
        <p:spPr>
          <a:xfrm>
            <a:off x="4782270" y="2413235"/>
            <a:ext cx="4262750" cy="3416320"/>
          </a:xfrm>
          <a:prstGeom prst="rect">
            <a:avLst/>
          </a:prstGeom>
          <a:noFill/>
        </p:spPr>
        <p:txBody>
          <a:bodyPr wrap="square" rtlCol="0">
            <a:spAutoFit/>
          </a:bodyPr>
          <a:lstStyle/>
          <a:p>
            <a:r>
              <a:rPr lang="nl-NL" dirty="0"/>
              <a:t>Het proces van data-analyse en opschoning is stapsgewijs uitgevoerd op basis van de bevindingen uit de EDA. Een bewuste keuze was om rijen met ontbrekende datum- of bezoekersgegevens niet te verwijderen, zodat het datavolume behouden blijft. Hierdoor blijft de dataset flexibel inzetbaar voor verschillende analyses in bijvoorbeeld Power BI. In een volgende iteratie zou aanvullende verrijking of imputatie van ontbrekende waarden overwogen kunnen worden.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122</TotalTime>
  <Words>206</Words>
  <Application>Microsoft Office PowerPoint</Application>
  <PresentationFormat>Diavoorstelling (4:3)</PresentationFormat>
  <Paragraphs>37</Paragraphs>
  <Slides>3</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3</vt:i4>
      </vt:variant>
    </vt:vector>
  </HeadingPairs>
  <TitlesOfParts>
    <vt:vector size="7" baseType="lpstr">
      <vt:lpstr>Arial</vt:lpstr>
      <vt:lpstr>Arial Unicode MS</vt:lpstr>
      <vt:lpstr>Calibri</vt:lpstr>
      <vt:lpstr>Office Theme</vt:lpstr>
      <vt:lpstr>TO-BE Datakwaliteit – Eventura Analytics</vt:lpstr>
      <vt:lpstr>Uitgevoerde Data Opschoning</vt:lpstr>
      <vt:lpstr>TO-BE BIV-score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sabri lakhlifi</dc:creator>
  <cp:keywords/>
  <dc:description>generated using python-pptx</dc:description>
  <cp:lastModifiedBy>sabri Lakhlifi (1105140)</cp:lastModifiedBy>
  <cp:revision>2</cp:revision>
  <dcterms:created xsi:type="dcterms:W3CDTF">2013-01-27T09:14:16Z</dcterms:created>
  <dcterms:modified xsi:type="dcterms:W3CDTF">2026-01-17T14:24:37Z</dcterms:modified>
  <cp:category/>
</cp:coreProperties>
</file>